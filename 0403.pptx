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6"/>
    <p:restoredTop sz="94605"/>
  </p:normalViewPr>
  <p:slideViewPr>
    <p:cSldViewPr snapToGrid="0">
      <p:cViewPr varScale="1">
        <p:scale>
          <a:sx n="107" d="100"/>
          <a:sy n="107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C581-C2B8-DB06-B2A9-8940D814E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C5641-501A-6C11-E751-1AB10F15E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F7ABE-E86B-E12A-44AD-7112ACACD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F11E3-7D0D-2D87-42BE-03A76CDE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DFC7-F2B9-F5EA-899E-FBC1FE3F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319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7920-31DF-F852-9CA1-5AF6B286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4FC6-33F8-D4A1-D996-F98BB65E6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0473A-3CB2-B10C-47B3-C3534D573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A4C4E-C2AC-8719-391A-D610A53B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3B507-0557-DBBD-6291-D221136C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729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319B-C657-EAD8-6145-6A42943D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55917-0DA3-7697-288D-F5F3072F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51AE0-CA7F-3841-DEC8-FFB12CA2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9B51C-6426-B25B-1F52-DD6281CF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D73BE-9BDB-2896-3B51-CF6B4BE9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227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B8C2-513F-F7A4-B209-4F27E8D1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A76D-291F-9973-E3AF-7F49D4653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8436A-254E-D410-CBAF-FFE62EF88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58EEF-0A1F-37C8-3908-3F15EBAF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16FFF9-D684-C628-9403-E11BAC74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28C25-5D08-516A-9A9D-CFC9E4C8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372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1420-EE99-1D37-4845-398D7AB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72B90-D7B8-2038-7D19-155526966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4D4D2-9F33-F071-16BA-47A5B1A92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13324-0C66-3F47-0B10-0F16BCFE9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B90CC-D842-81DD-E26C-EC2AB675D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FD4EE-5B77-D449-533D-121AC261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4F88B-BDF7-84E1-97C0-833CD211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06FF2B-C36D-951E-F1CB-66C4CE4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4235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B444-80B6-025B-D30C-EAD511B3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B1B1A-194F-C975-590F-891E8C37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BA2BD-0DF3-BE9F-BF20-1E1A0DAF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C7D83-1398-3F74-F840-A73B0144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79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BD36F-CECF-614E-E90E-3B79B555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C76BC-472E-8E46-DD0B-BE7C6EB4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B804A-1B21-3C8A-A733-CBEB6530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036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4D95-7210-4E24-4360-54EF153A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B54A8-0207-8278-B838-181986A79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20AA7-E17C-9527-F3DA-5FD30425F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D4A97-1F76-CE06-3249-F9F77078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B7647-127A-7FB1-4EC8-0C8F0CB3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E521A-D716-43AC-0CE3-CBF41D02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77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1A52-2962-D8FF-3C14-17C62BFCC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670C7-B3AC-8575-E953-70BFD048E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1809-30FD-1F3E-C210-44E6744D6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DC55-2A03-37B0-F599-3F0990C3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73E77-2AD0-F316-05F4-568AA1E5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C7115-7D64-FE18-95CF-1EEE056C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228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8A9D-F646-E7F3-99B7-452DA065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0E13E-8ECB-B808-CF74-0F4CAC68F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F953-0A1F-014B-1289-8A921CDC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05FC-D94A-A968-BCC6-78EDC0BD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BB9EF-6DDA-E7BC-D12C-1B8AB9C2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0336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E18A6-CFDE-9CDD-3C74-81A2B171A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6AF96-7AB6-C39C-0BFD-1DB8E7642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96D9-ADCE-35B5-C482-509D1195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E8403-AF7A-D701-9BEA-6B3C48D3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6075E-C424-777E-2187-A31B0B7C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129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2C087-C63D-4FC0-927F-B5F00064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06782-6E90-B691-7CD8-6771005DA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E788F-4EC4-E344-A853-3808D75E4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2CDC2-EEE3-A14E-88D6-907D31AEBCDC}" type="datetimeFigureOut">
              <a:rPr lang="en-CN" smtClean="0"/>
              <a:t>2026/4/3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56E83-6E1C-4364-C13D-3BB7BEED2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D075-60AE-662A-D974-DB2D530FB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66F0C-79D3-894C-A2AF-83E4989755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987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9D60-8A9B-901D-EC52-9B7696EBB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随机的题目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9D3BA-9EF9-6BC7-1ACE-0F2FA8679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2026.4.3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1072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FD06-F377-CD62-CDCB-FC0CE801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CF888F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18FCA-0435-6E3E-3DCF-238854DFA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139" y="1690688"/>
            <a:ext cx="10515600" cy="35172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18F14A-659A-8689-4855-1A2ABC1BCBE3}"/>
              </a:ext>
            </a:extLst>
          </p:cNvPr>
          <p:cNvSpPr txBox="1"/>
          <p:nvPr/>
        </p:nvSpPr>
        <p:spPr>
          <a:xfrm>
            <a:off x="1989438" y="5313405"/>
            <a:ext cx="324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 &lt;= 500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2656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5584-8C85-483F-E829-83341C41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DC23-C7FF-CCC2-FB10-A283CCCF34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f[l][r] </a:t>
                </a:r>
                <a:r>
                  <a:rPr lang="en-US" dirty="0" err="1"/>
                  <a:t>为</a:t>
                </a:r>
                <a:r>
                  <a:rPr lang="en-US" dirty="0"/>
                  <a:t>[l, r]</a:t>
                </a:r>
                <a:r>
                  <a:rPr lang="en-US" dirty="0" err="1"/>
                  <a:t>所有点连通成树的方案数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g[l][r] </a:t>
                </a:r>
                <a:r>
                  <a:rPr lang="zh-CN" altLang="en-US" dirty="0"/>
                  <a:t>表示</a:t>
                </a:r>
                <a:r>
                  <a:rPr lang="en-US" altLang="zh-CN" dirty="0"/>
                  <a:t>[l ,r]</a:t>
                </a:r>
                <a:r>
                  <a:rPr lang="zh-CN" altLang="en-US" dirty="0"/>
                  <a:t>连通且</a:t>
                </a:r>
                <a:r>
                  <a:rPr lang="en-US" altLang="zh-CN" dirty="0"/>
                  <a:t>l, r</a:t>
                </a:r>
                <a:r>
                  <a:rPr lang="zh-CN" altLang="en-US" dirty="0"/>
                  <a:t>之间有直接边的方案数</a:t>
                </a:r>
                <a:endParaRPr lang="en-US" altLang="zh-CN" dirty="0"/>
              </a:p>
              <a:p>
                <a:r>
                  <a:rPr lang="en-US" altLang="zh-CN" dirty="0"/>
                  <a:t>g: </a:t>
                </a: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𝑐𝑎𝑛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ar-AE" dirty="0"/>
                  <a:t>，</a:t>
                </a:r>
                <a:r>
                  <a:rPr lang="zh-CN" altLang="en-US" dirty="0"/>
                  <a:t>枚举断点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𝑚𝑖𝑑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dirty="0"/>
                  <a:t>，</a:t>
                </a:r>
                <a:r>
                  <a:rPr lang="zh-CN" altLang="en-US" dirty="0"/>
                  <a:t>左右两段各自独立连通：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ar-AE" dirty="0"/>
                  <a:t>。</a:t>
                </a:r>
                <a:r>
                  <a:rPr lang="zh-CN" altLang="en-US" dirty="0"/>
                  <a:t>这里边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dirty="0"/>
                  <a:t>将区间一分为二，两侧互不干扰。</a:t>
                </a:r>
                <a:endParaRPr lang="en-US" altLang="zh-CN" dirty="0"/>
              </a:p>
              <a:p>
                <a:r>
                  <a:rPr lang="en-US" altLang="zh-CN" dirty="0"/>
                  <a:t>f: </a:t>
                </a:r>
                <a:r>
                  <a:rPr lang="zh-CN" altLang="en-US" dirty="0"/>
                  <a:t>枚举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直接连到的 </a:t>
                </a:r>
                <a:r>
                  <a:rPr lang="zh-CN" altLang="en-US" b="1" dirty="0"/>
                  <a:t>最远</a:t>
                </a:r>
                <a:r>
                  <a:rPr lang="zh-CN" altLang="en-US" dirty="0"/>
                  <a:t>（编号最大的）邻居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𝑚𝑖𝑑</m:t>
                    </m:r>
                  </m:oMath>
                </a14:m>
                <a:r>
                  <a:rPr lang="zh-CN" altLang="en-US" dirty="0"/>
                  <a:t>，则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</m:oMath>
                </a14:m>
                <a:r>
                  <a:rPr lang="zh-CN" altLang="en-US" dirty="0"/>
                  <a:t>必须直连</a:t>
                </a:r>
                <a:r>
                  <a:rPr lang="zh-CN" altLang="en-CN" dirty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与</m:t>
                    </m:r>
                  </m:oMath>
                </a14:m>
                <a:r>
                  <a:rPr lang="zh-CN" altLang="en-US" dirty="0"/>
                  <a:t>外界互不干扰 （</a:t>
                </a:r>
                <a:r>
                  <a:rPr lang="en-US" altLang="zh-CN" dirty="0"/>
                  <a:t>g[l][mid]</a:t>
                </a:r>
                <a:r>
                  <a:rPr lang="zh-CN" altLang="en-US" dirty="0"/>
                  <a:t>）。剩余部分独立连通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贡献为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𝑚𝑖𝑑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DC23-C7FF-CCC2-FB10-A283CCCF34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r="-724" b="-1395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04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BEDA-8126-0D3C-0CA7-5AA3EED0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ARC214C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4CFFF-D7BB-2494-2CF8-651EB905B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959" y="1690688"/>
            <a:ext cx="8703014" cy="46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3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42BF-A3CC-2DB4-964B-75AD2590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764A54-5EE7-A2B5-3610-0E2D65A3B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N" dirty="0"/>
              <a:t>若总和为奇数</a:t>
            </a:r>
            <a:r>
              <a:rPr lang="zh-CN" altLang="en-US" dirty="0"/>
              <a:t>，答案为</a:t>
            </a:r>
            <a:r>
              <a:rPr lang="en-US" altLang="zh-CN" dirty="0"/>
              <a:t>0</a:t>
            </a:r>
            <a:r>
              <a:rPr lang="zh-CN" altLang="en-US" dirty="0"/>
              <a:t>。令</a:t>
            </a:r>
            <a:r>
              <a:rPr lang="en-US" altLang="zh-CN" dirty="0"/>
              <a:t>X = {1,2,… N}</a:t>
            </a:r>
            <a:r>
              <a:rPr lang="zh-CN" altLang="en-US" dirty="0"/>
              <a:t>的子集中，</a:t>
            </a:r>
            <a:r>
              <a:rPr lang="zh-CN" altLang="en-CN" dirty="0"/>
              <a:t>元素之和</a:t>
            </a:r>
            <a:r>
              <a:rPr lang="zh-CN" altLang="en-US" dirty="0"/>
              <a:t>恰好为</a:t>
            </a:r>
            <a:r>
              <a:rPr lang="en-US" altLang="zh-CN" dirty="0"/>
              <a:t>S/2</a:t>
            </a:r>
            <a:r>
              <a:rPr lang="zh-CN" altLang="en-US" dirty="0"/>
              <a:t>的子集个数。</a:t>
            </a:r>
            <a:endParaRPr lang="en-US" altLang="zh-CN" dirty="0"/>
          </a:p>
          <a:p>
            <a:r>
              <a:rPr lang="zh-CN" altLang="en-US" dirty="0"/>
              <a:t>注意到 答案 </a:t>
            </a:r>
            <a:r>
              <a:rPr lang="en-US" altLang="zh-CN" dirty="0"/>
              <a:t>= X^2 – 2X</a:t>
            </a:r>
          </a:p>
          <a:p>
            <a:r>
              <a:rPr lang="en-US" dirty="0"/>
              <a:t>X^2: </a:t>
            </a:r>
            <a:r>
              <a:rPr lang="en-US" dirty="0" err="1"/>
              <a:t>从X个合法子集中选取的U</a:t>
            </a:r>
            <a:r>
              <a:rPr lang="en-US" dirty="0"/>
              <a:t>, V</a:t>
            </a:r>
            <a:r>
              <a:rPr lang="zh-CN" altLang="en-US" dirty="0"/>
              <a:t> 与分队方案一一对应：</a:t>
            </a:r>
            <a:endParaRPr lang="en-US" altLang="zh-CN" dirty="0"/>
          </a:p>
          <a:p>
            <a:pPr lvl="1"/>
            <a:r>
              <a:rPr lang="en-US" dirty="0"/>
              <a:t>A = U &amp; V</a:t>
            </a:r>
          </a:p>
          <a:p>
            <a:pPr lvl="1"/>
            <a:r>
              <a:rPr lang="en-US" dirty="0"/>
              <a:t>B = !U &amp; !V</a:t>
            </a:r>
          </a:p>
          <a:p>
            <a:pPr lvl="1"/>
            <a:r>
              <a:rPr lang="en-US" dirty="0"/>
              <a:t>C = !U &amp; V</a:t>
            </a:r>
          </a:p>
          <a:p>
            <a:pPr lvl="1"/>
            <a:r>
              <a:rPr lang="en-US" dirty="0"/>
              <a:t>D = U &amp; !V</a:t>
            </a:r>
          </a:p>
          <a:p>
            <a:r>
              <a:rPr lang="en-US" dirty="0" err="1"/>
              <a:t>会多数</a:t>
            </a:r>
            <a:r>
              <a:rPr lang="en-US" dirty="0"/>
              <a:t> 2X </a:t>
            </a:r>
            <a:r>
              <a:rPr lang="en-US" dirty="0" err="1"/>
              <a:t>个</a:t>
            </a:r>
            <a:r>
              <a:rPr lang="zh-CN" altLang="en-US" dirty="0"/>
              <a:t>：当</a:t>
            </a:r>
            <a:r>
              <a:rPr lang="en-US" altLang="zh-CN" dirty="0"/>
              <a:t>U = V (C, D</a:t>
            </a:r>
            <a:r>
              <a:rPr lang="zh-CN" altLang="en-US" dirty="0"/>
              <a:t>空</a:t>
            </a:r>
            <a:r>
              <a:rPr lang="en-US" altLang="zh-CN" dirty="0"/>
              <a:t>) </a:t>
            </a:r>
            <a:r>
              <a:rPr lang="zh-CN" altLang="en-US" dirty="0"/>
              <a:t>或者</a:t>
            </a:r>
            <a:r>
              <a:rPr lang="en-US" altLang="zh-CN" dirty="0"/>
              <a:t> U = ~V (A, B </a:t>
            </a:r>
            <a:r>
              <a:rPr lang="zh-CN" altLang="en-US" dirty="0"/>
              <a:t>空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求</a:t>
            </a:r>
            <a:r>
              <a:rPr lang="en-US" altLang="zh-CN" dirty="0"/>
              <a:t>X</a:t>
            </a:r>
            <a:r>
              <a:rPr lang="zh-CN" altLang="en-US" dirty="0"/>
              <a:t>背包</a:t>
            </a:r>
            <a:r>
              <a:rPr lang="en-US" altLang="zh-CN" dirty="0"/>
              <a:t>DP</a:t>
            </a:r>
            <a:r>
              <a:rPr lang="zh-CN" altLang="en-US" dirty="0"/>
              <a:t>即可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93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3CBC-3FBD-A5FD-A043-3716DCD5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ARC212D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87C311-B16A-57CA-3140-AB05213AE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2734"/>
            <a:ext cx="10515600" cy="3937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DE256-8FA0-EE87-A846-03410E61B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542" y="184500"/>
            <a:ext cx="1930834" cy="1853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E48C7-F2E2-5AF4-FAE7-3935C9206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708" y="184500"/>
            <a:ext cx="2061228" cy="184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6DB0-4D69-8081-E6E1-D72B9D34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423F0-1842-D3C1-45E1-E6284713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考虑 f(X, Y) = sum ((</a:t>
            </a:r>
            <a:r>
              <a:rPr lang="en-US" dirty="0" err="1"/>
              <a:t>i</a:t>
            </a:r>
            <a:r>
              <a:rPr lang="en-US" dirty="0"/>
              <a:t>,</a:t>
            </a:r>
            <a:r>
              <a:rPr lang="en-CN" dirty="0"/>
              <a:t>j) in X) a[i][j] + sum ((</a:t>
            </a:r>
            <a:r>
              <a:rPr lang="en-US" dirty="0" err="1"/>
              <a:t>i</a:t>
            </a:r>
            <a:r>
              <a:rPr lang="en-US" dirty="0"/>
              <a:t>,</a:t>
            </a:r>
            <a:r>
              <a:rPr lang="en-CN" dirty="0"/>
              <a:t> j) in Y) a[i][j]</a:t>
            </a:r>
          </a:p>
          <a:p>
            <a:r>
              <a:rPr lang="en-CN" dirty="0"/>
              <a:t>初始X, Y 随便</a:t>
            </a:r>
            <a:r>
              <a:rPr lang="zh-CN" altLang="en-US" dirty="0"/>
              <a:t>，然后爬山：</a:t>
            </a:r>
            <a:endParaRPr lang="en-US" altLang="zh-CN" dirty="0"/>
          </a:p>
          <a:p>
            <a:r>
              <a:rPr lang="zh-CN" altLang="en-US" dirty="0"/>
              <a:t>如果某人</a:t>
            </a:r>
            <a:r>
              <a:rPr lang="en-US" altLang="zh-CN" dirty="0"/>
              <a:t>x</a:t>
            </a:r>
            <a:r>
              <a:rPr lang="zh-CN" altLang="en-US" dirty="0"/>
              <a:t> 不良好，则</a:t>
            </a:r>
            <a:r>
              <a:rPr lang="en-US" altLang="zh-CN" dirty="0"/>
              <a:t> x</a:t>
            </a:r>
            <a:r>
              <a:rPr lang="zh-CN" altLang="en-US" dirty="0"/>
              <a:t> 移到另一个房间后的</a:t>
            </a:r>
            <a:r>
              <a:rPr lang="en-US" altLang="zh-CN" dirty="0"/>
              <a:t>f</a:t>
            </a:r>
            <a:r>
              <a:rPr lang="zh-CN" altLang="en-US" dirty="0"/>
              <a:t>值会变大</a:t>
            </a:r>
            <a:r>
              <a:rPr lang="en-US" altLang="zh-CN" dirty="0"/>
              <a:t>(</a:t>
            </a:r>
            <a:r>
              <a:rPr lang="zh-CN" altLang="en-US" dirty="0"/>
              <a:t>至少</a:t>
            </a:r>
            <a:r>
              <a:rPr lang="en-US" altLang="zh-CN" dirty="0"/>
              <a:t>+1)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</a:t>
            </a:r>
            <a:r>
              <a:rPr lang="zh-CN" altLang="en-US" dirty="0"/>
              <a:t>最多可以取到</a:t>
            </a:r>
            <a:r>
              <a:rPr lang="en-US" altLang="zh-CN" dirty="0"/>
              <a:t> N^2 * </a:t>
            </a:r>
            <a:r>
              <a:rPr lang="en-US" altLang="zh-CN" dirty="0" err="1"/>
              <a:t>maxA</a:t>
            </a:r>
            <a:r>
              <a:rPr lang="en-US" altLang="zh-CN" dirty="0"/>
              <a:t>, </a:t>
            </a:r>
            <a:r>
              <a:rPr lang="zh-CN" altLang="en-US" dirty="0"/>
              <a:t>所以最多增加</a:t>
            </a:r>
            <a:r>
              <a:rPr lang="en-US" altLang="zh-CN" dirty="0"/>
              <a:t> N^2 * </a:t>
            </a:r>
            <a:r>
              <a:rPr lang="en-US" altLang="zh-CN" dirty="0" err="1"/>
              <a:t>maxA</a:t>
            </a:r>
            <a:r>
              <a:rPr lang="zh-CN" altLang="en-US" dirty="0"/>
              <a:t>次，每次需花费</a:t>
            </a:r>
            <a:r>
              <a:rPr lang="en-US" altLang="zh-CN" dirty="0"/>
              <a:t>N^2</a:t>
            </a:r>
            <a:r>
              <a:rPr lang="zh-CN" altLang="en-US" dirty="0"/>
              <a:t>检查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f</a:t>
            </a:r>
            <a:r>
              <a:rPr lang="zh-CN" altLang="en-US" dirty="0"/>
              <a:t>无法变大时，所有人良好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9569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59D5-192F-6FE9-EA8D-BE0A547E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ARC210B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043C35-BAB9-91AB-6F01-FB3D7ABD3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760" y="1375459"/>
            <a:ext cx="9775044" cy="4898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AA8A5A-A500-1E55-4B12-C576C032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76" y="2322210"/>
            <a:ext cx="2276426" cy="2213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9AF97D-62C1-089A-E803-F7183FF59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298" y="4057692"/>
            <a:ext cx="2019007" cy="221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23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94DD-D8D1-C3C2-1A52-5722D871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9FE90-5363-AC6F-DE73-BF96E077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注意到</a:t>
            </a:r>
            <a:r>
              <a:rPr lang="zh-CN" altLang="en-US" dirty="0"/>
              <a:t> 所有</a:t>
            </a:r>
            <a:r>
              <a:rPr lang="en-US" altLang="zh-CN" dirty="0"/>
              <a:t>M+N</a:t>
            </a:r>
            <a:r>
              <a:rPr lang="zh-CN" altLang="en-US" dirty="0"/>
              <a:t>元素中最后留下的只有</a:t>
            </a:r>
            <a:r>
              <a:rPr lang="en-US" altLang="zh-CN" dirty="0"/>
              <a:t> </a:t>
            </a:r>
            <a:r>
              <a:rPr lang="zh-CN" altLang="en-US" dirty="0"/>
              <a:t>全场</a:t>
            </a:r>
            <a:r>
              <a:rPr lang="en-US" altLang="zh-CN" dirty="0"/>
              <a:t> N/2 </a:t>
            </a:r>
            <a:r>
              <a:rPr lang="zh-CN" altLang="en-US" dirty="0"/>
              <a:t>最大的 和</a:t>
            </a:r>
            <a:r>
              <a:rPr lang="en-US" altLang="zh-CN" dirty="0"/>
              <a:t>N/2</a:t>
            </a:r>
            <a:r>
              <a:rPr lang="zh-CN" altLang="en-US" dirty="0"/>
              <a:t>最小的</a:t>
            </a:r>
            <a:endParaRPr lang="en-US" altLang="zh-CN" dirty="0"/>
          </a:p>
          <a:p>
            <a:r>
              <a:rPr lang="zh-CN" altLang="en-US" dirty="0"/>
              <a:t>在任何阶段这些元素分别只会占据</a:t>
            </a:r>
            <a:r>
              <a:rPr lang="en-US" altLang="zh-CN" dirty="0"/>
              <a:t>A</a:t>
            </a:r>
            <a:r>
              <a:rPr lang="zh-CN" altLang="en-US" dirty="0"/>
              <a:t>中的</a:t>
            </a:r>
            <a:r>
              <a:rPr lang="en-US" altLang="zh-CN" dirty="0"/>
              <a:t>N/2</a:t>
            </a:r>
            <a:r>
              <a:rPr lang="zh-CN" altLang="en-US" dirty="0"/>
              <a:t>最大和</a:t>
            </a:r>
            <a:r>
              <a:rPr lang="en-CN" altLang="zh-CN" dirty="0"/>
              <a:t>N/2</a:t>
            </a:r>
            <a:r>
              <a:rPr lang="zh-CN" altLang="en-CN" dirty="0"/>
              <a:t>最小</a:t>
            </a:r>
            <a:r>
              <a:rPr lang="zh-CN" altLang="en-US" dirty="0"/>
              <a:t>位，不会作为第</a:t>
            </a:r>
            <a:r>
              <a:rPr lang="en-US" altLang="zh-CN" dirty="0"/>
              <a:t>N/2+1 </a:t>
            </a:r>
            <a:r>
              <a:rPr lang="zh-CN" altLang="en-US" dirty="0"/>
              <a:t>个元素被删除</a:t>
            </a:r>
            <a:endParaRPr lang="en-US" altLang="zh-CN" dirty="0"/>
          </a:p>
          <a:p>
            <a:r>
              <a:rPr lang="zh-CN" altLang="en-US" dirty="0"/>
              <a:t>所以只需维护</a:t>
            </a:r>
            <a:r>
              <a:rPr lang="en-US" altLang="zh-CN" dirty="0"/>
              <a:t> A+B</a:t>
            </a:r>
            <a:r>
              <a:rPr lang="zh-CN" altLang="en-US" dirty="0"/>
              <a:t> 中</a:t>
            </a:r>
            <a:r>
              <a:rPr lang="en-US" altLang="zh-CN" dirty="0"/>
              <a:t>N/2</a:t>
            </a:r>
            <a:r>
              <a:rPr lang="zh-CN" altLang="en-US" dirty="0"/>
              <a:t>最大和</a:t>
            </a:r>
            <a:r>
              <a:rPr lang="en-US" altLang="zh-CN" dirty="0"/>
              <a:t>N/2</a:t>
            </a:r>
            <a:r>
              <a:rPr lang="zh-CN" altLang="en-US" dirty="0"/>
              <a:t>最小</a:t>
            </a:r>
            <a:endParaRPr lang="en-US" altLang="zh-CN" dirty="0"/>
          </a:p>
          <a:p>
            <a:r>
              <a:rPr lang="zh-CN" altLang="en-US" dirty="0"/>
              <a:t>全场离散化，用</a:t>
            </a:r>
            <a:r>
              <a:rPr lang="en-US" altLang="zh-CN" dirty="0"/>
              <a:t> BIT </a:t>
            </a:r>
            <a:r>
              <a:rPr lang="zh-CN" altLang="en-US" dirty="0"/>
              <a:t>维护</a:t>
            </a:r>
            <a:r>
              <a:rPr lang="en-US" altLang="zh-CN" dirty="0"/>
              <a:t> </a:t>
            </a:r>
            <a:r>
              <a:rPr lang="en-US" altLang="zh-CN" dirty="0" err="1"/>
              <a:t>cnt</a:t>
            </a:r>
            <a:r>
              <a:rPr lang="en-US" altLang="zh-CN" dirty="0"/>
              <a:t>, value</a:t>
            </a:r>
            <a:r>
              <a:rPr lang="zh-CN" altLang="en-US" dirty="0"/>
              <a:t>，二分找最小最大</a:t>
            </a:r>
            <a:r>
              <a:rPr lang="en-US" altLang="zh-CN" dirty="0"/>
              <a:t>k</a:t>
            </a:r>
            <a:r>
              <a:rPr lang="zh-CN" altLang="en-US" dirty="0"/>
              <a:t>个的和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15EDD-96CA-875D-F7BD-63C08A1BB9DB}"/>
              </a:ext>
            </a:extLst>
          </p:cNvPr>
          <p:cNvSpPr txBox="1"/>
          <p:nvPr/>
        </p:nvSpPr>
        <p:spPr>
          <a:xfrm>
            <a:off x="2982351" y="21382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99411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B1AD-0A26-D12B-39E4-948DB2F9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B. </a:t>
            </a:r>
            <a:r>
              <a:rPr lang="zh-CN" altLang="en-US" dirty="0"/>
              <a:t>变换 </a:t>
            </a:r>
            <a:r>
              <a:rPr lang="en-US" altLang="zh-CN" dirty="0"/>
              <a:t>(</a:t>
            </a:r>
            <a:r>
              <a:rPr lang="en-US" dirty="0"/>
              <a:t>transform)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7CAE19-4694-2B8F-48C3-7920FF87B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707" y="1849375"/>
            <a:ext cx="7630410" cy="469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5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66FB-F0CA-00F0-EB05-1A18DF9B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2D8A0-6793-3C51-A197-82311245A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931"/>
          </a:xfrm>
        </p:spPr>
        <p:txBody>
          <a:bodyPr/>
          <a:lstStyle/>
          <a:p>
            <a:r>
              <a:rPr lang="en-CN" dirty="0"/>
              <a:t>预处理</a:t>
            </a:r>
            <a:r>
              <a:rPr lang="zh-CN" altLang="en-US" dirty="0"/>
              <a:t>：两个都已知、一个已知、都没有</a:t>
            </a:r>
            <a:endParaRPr lang="en-US" altLang="zh-CN" dirty="0"/>
          </a:p>
          <a:p>
            <a:pPr lvl="1"/>
            <a:r>
              <a:rPr lang="zh-CN" altLang="en-US" dirty="0"/>
              <a:t>给出</a:t>
            </a:r>
            <a:r>
              <a:rPr lang="en-US" altLang="zh-CN" dirty="0"/>
              <a:t>1-2n</a:t>
            </a:r>
            <a:r>
              <a:rPr lang="zh-CN" altLang="en-US" dirty="0"/>
              <a:t>每个数的状态：作为</a:t>
            </a:r>
            <a:r>
              <a:rPr lang="en-US" altLang="zh-CN" dirty="0"/>
              <a:t>min/max“</a:t>
            </a:r>
            <a:r>
              <a:rPr lang="zh-CN" altLang="en-US" dirty="0"/>
              <a:t>射手</a:t>
            </a:r>
            <a:r>
              <a:rPr lang="en-US" altLang="zh-CN" dirty="0"/>
              <a:t>”</a:t>
            </a:r>
            <a:r>
              <a:rPr lang="zh-CN" altLang="en-US" dirty="0"/>
              <a:t>，已被占用，或空闲</a:t>
            </a:r>
            <a:endParaRPr lang="en-US" altLang="zh-CN" dirty="0"/>
          </a:p>
          <a:p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</a:t>
            </a:r>
            <a:r>
              <a:rPr lang="zh-CN" altLang="en-US" dirty="0"/>
              <a:t>扫到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(1</a:t>
            </a:r>
            <a:r>
              <a:rPr lang="zh-CN" altLang="en-US" dirty="0"/>
              <a:t>到</a:t>
            </a:r>
            <a:r>
              <a:rPr lang="en-US" altLang="zh-CN" dirty="0"/>
              <a:t>2n)</a:t>
            </a:r>
            <a:r>
              <a:rPr lang="zh-CN" altLang="en-US" dirty="0"/>
              <a:t>，有</a:t>
            </a:r>
            <a:r>
              <a:rPr lang="en-US" altLang="zh-CN" dirty="0"/>
              <a:t>j</a:t>
            </a:r>
            <a:r>
              <a:rPr lang="zh-CN" altLang="en-US" dirty="0"/>
              <a:t>个</a:t>
            </a:r>
            <a:r>
              <a:rPr lang="en-US" altLang="zh-CN" dirty="0"/>
              <a:t>min</a:t>
            </a:r>
            <a:r>
              <a:rPr lang="zh-CN" altLang="en-US" dirty="0"/>
              <a:t>射手被匹配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遇到</a:t>
            </a:r>
            <a:r>
              <a:rPr lang="en-US" altLang="zh-CN" dirty="0"/>
              <a:t>max</a:t>
            </a:r>
            <a:r>
              <a:rPr lang="zh-CN" altLang="en-US" dirty="0"/>
              <a:t>射手</a:t>
            </a:r>
            <a:r>
              <a:rPr lang="en-US" altLang="zh-CN" dirty="0"/>
              <a:t>:</a:t>
            </a:r>
            <a:r>
              <a:rPr lang="zh-CN" altLang="en-US" dirty="0"/>
              <a:t>可以选之前</a:t>
            </a:r>
            <a:r>
              <a:rPr lang="en-US" altLang="zh-CN" dirty="0"/>
              <a:t>(vac-j-</a:t>
            </a:r>
            <a:r>
              <a:rPr lang="en-US" altLang="zh-CN" dirty="0" err="1"/>
              <a:t>maxcnt</a:t>
            </a:r>
            <a:r>
              <a:rPr lang="en-US" altLang="zh-CN" dirty="0"/>
              <a:t>)</a:t>
            </a:r>
            <a:r>
              <a:rPr lang="zh-CN" altLang="en-US" dirty="0"/>
              <a:t>中的一个</a:t>
            </a:r>
            <a:r>
              <a:rPr lang="en-US" altLang="zh-CN" dirty="0"/>
              <a:t>, </a:t>
            </a:r>
          </a:p>
          <a:p>
            <a:pPr lvl="1"/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[i-1][j]* (vac-j-</a:t>
            </a:r>
            <a:r>
              <a:rPr lang="en-US" altLang="zh-CN" dirty="0" err="1"/>
              <a:t>maxcnt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遇到</a:t>
            </a:r>
            <a:r>
              <a:rPr lang="en-US" altLang="zh-CN" dirty="0"/>
              <a:t>min</a:t>
            </a:r>
            <a:r>
              <a:rPr lang="zh-CN" altLang="en-US" dirty="0"/>
              <a:t>射手</a:t>
            </a:r>
            <a:r>
              <a:rPr lang="en-US" altLang="zh-CN" dirty="0"/>
              <a:t>: </a:t>
            </a:r>
            <a:r>
              <a:rPr lang="en-US" altLang="zh-CN" dirty="0" err="1"/>
              <a:t>mincnt</a:t>
            </a:r>
            <a:r>
              <a:rPr lang="en-US" altLang="zh-CN" dirty="0"/>
              <a:t>++,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直接继承</a:t>
            </a:r>
            <a:r>
              <a:rPr lang="en-US" altLang="zh-CN" dirty="0" err="1"/>
              <a:t>dp</a:t>
            </a:r>
            <a:r>
              <a:rPr lang="en-US" altLang="zh-CN" dirty="0"/>
              <a:t>[i-1]</a:t>
            </a:r>
          </a:p>
          <a:p>
            <a:r>
              <a:rPr lang="zh-CN" altLang="en-US" dirty="0"/>
              <a:t>遇到</a:t>
            </a:r>
            <a:r>
              <a:rPr lang="en-US" altLang="zh-CN" dirty="0"/>
              <a:t>occupied: </a:t>
            </a:r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直接继承</a:t>
            </a:r>
            <a:r>
              <a:rPr lang="en-US" altLang="zh-CN" dirty="0" err="1"/>
              <a:t>dp</a:t>
            </a:r>
            <a:r>
              <a:rPr lang="en-US" altLang="zh-CN" dirty="0"/>
              <a:t>[i-1]</a:t>
            </a:r>
          </a:p>
          <a:p>
            <a:r>
              <a:rPr lang="zh-CN" altLang="en-US" dirty="0"/>
              <a:t>遇到空闲：可以预留给后面的</a:t>
            </a:r>
            <a:r>
              <a:rPr lang="en-US" altLang="zh-CN" dirty="0"/>
              <a:t>max</a:t>
            </a:r>
            <a:r>
              <a:rPr lang="zh-CN" altLang="en-US" dirty="0"/>
              <a:t>射手（什么都不做）或者选</a:t>
            </a:r>
            <a:r>
              <a:rPr lang="en-US" altLang="zh-CN" dirty="0"/>
              <a:t> (mincnt-j+1):</a:t>
            </a:r>
          </a:p>
          <a:p>
            <a:pPr lvl="1"/>
            <a:r>
              <a:rPr lang="en-US" altLang="zh-CN" dirty="0" err="1"/>
              <a:t>dp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][j] = </a:t>
            </a:r>
            <a:r>
              <a:rPr lang="en-US" altLang="zh-CN" dirty="0" err="1"/>
              <a:t>dp</a:t>
            </a:r>
            <a:r>
              <a:rPr lang="en-US" altLang="zh-CN" dirty="0"/>
              <a:t>[i-1][j-1]*(cnt-j+1)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74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637</Words>
  <Application>Microsoft Macintosh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随机的题目</vt:lpstr>
      <vt:lpstr>CF888F</vt:lpstr>
      <vt:lpstr>PowerPoint Presentation</vt:lpstr>
      <vt:lpstr>ARC214C</vt:lpstr>
      <vt:lpstr>PowerPoint Presentation</vt:lpstr>
      <vt:lpstr>ARC212D</vt:lpstr>
      <vt:lpstr>PowerPoint Presentation</vt:lpstr>
      <vt:lpstr>ARC210B</vt:lpstr>
      <vt:lpstr>PowerPoint Presentation</vt:lpstr>
      <vt:lpstr>B. 变换 (transform)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 Zhu</dc:creator>
  <cp:lastModifiedBy>Hans Zhu</cp:lastModifiedBy>
  <cp:revision>8</cp:revision>
  <dcterms:created xsi:type="dcterms:W3CDTF">2026-04-02T14:00:42Z</dcterms:created>
  <dcterms:modified xsi:type="dcterms:W3CDTF">2026-04-03T07:52:39Z</dcterms:modified>
</cp:coreProperties>
</file>